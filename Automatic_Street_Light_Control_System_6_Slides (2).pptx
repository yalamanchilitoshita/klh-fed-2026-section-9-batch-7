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BA71892-5A46-4725-ACFB-3E76F1873341}" v="2" dt="2026-10-15T04:34:29.7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2" d="100"/>
          <a:sy n="122" d="100"/>
        </p:scale>
        <p:origin x="114" y="1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nay.mutya63@outlook.com" userId="e716e051ed39d59a" providerId="LiveId" clId="{87754A01-A61A-4BF3-B6C2-2462DF8512F8}"/>
    <pc:docChg chg="modSld">
      <pc:chgData name="vinay.mutya63@outlook.com" userId="e716e051ed39d59a" providerId="LiveId" clId="{87754A01-A61A-4BF3-B6C2-2462DF8512F8}" dt="2026-10-15T04:36:22.033" v="20" actId="20577"/>
      <pc:docMkLst>
        <pc:docMk/>
      </pc:docMkLst>
      <pc:sldChg chg="addSp delSp modSp mod">
        <pc:chgData name="vinay.mutya63@outlook.com" userId="e716e051ed39d59a" providerId="LiveId" clId="{87754A01-A61A-4BF3-B6C2-2462DF8512F8}" dt="2026-10-15T04:36:22.033" v="20" actId="20577"/>
        <pc:sldMkLst>
          <pc:docMk/>
          <pc:sldMk cId="0" sldId="260"/>
        </pc:sldMkLst>
        <pc:spChg chg="mod">
          <ac:chgData name="vinay.mutya63@outlook.com" userId="e716e051ed39d59a" providerId="LiveId" clId="{87754A01-A61A-4BF3-B6C2-2462DF8512F8}" dt="2026-10-15T04:36:22.033" v="20" actId="20577"/>
          <ac:spMkLst>
            <pc:docMk/>
            <pc:sldMk cId="0" sldId="260"/>
            <ac:spMk id="8" creationId="{00000000-0000-0000-0000-000000000000}"/>
          </ac:spMkLst>
        </pc:spChg>
        <pc:spChg chg="mod">
          <ac:chgData name="vinay.mutya63@outlook.com" userId="e716e051ed39d59a" providerId="LiveId" clId="{87754A01-A61A-4BF3-B6C2-2462DF8512F8}" dt="2026-10-15T04:35:29.098" v="11" actId="20577"/>
          <ac:spMkLst>
            <pc:docMk/>
            <pc:sldMk cId="0" sldId="260"/>
            <ac:spMk id="9" creationId="{00000000-0000-0000-0000-000000000000}"/>
          </ac:spMkLst>
        </pc:spChg>
        <pc:spChg chg="add del mod">
          <ac:chgData name="vinay.mutya63@outlook.com" userId="e716e051ed39d59a" providerId="LiveId" clId="{87754A01-A61A-4BF3-B6C2-2462DF8512F8}" dt="2026-10-15T04:34:29.782" v="2"/>
          <ac:spMkLst>
            <pc:docMk/>
            <pc:sldMk cId="0" sldId="260"/>
            <ac:spMk id="11" creationId="{CF359240-642F-5C65-C838-F2CE5DA89F60}"/>
          </ac:spMkLst>
        </pc:spChg>
        <pc:spChg chg="add del mod">
          <ac:chgData name="vinay.mutya63@outlook.com" userId="e716e051ed39d59a" providerId="LiveId" clId="{87754A01-A61A-4BF3-B6C2-2462DF8512F8}" dt="2026-10-15T04:34:32.027" v="5"/>
          <ac:spMkLst>
            <pc:docMk/>
            <pc:sldMk cId="0" sldId="260"/>
            <ac:spMk id="12" creationId="{94C13D94-38A5-9E5C-5335-39D36C9663AF}"/>
          </ac:spMkLst>
        </pc:spChg>
        <pc:graphicFrameChg chg="modGraphic">
          <ac:chgData name="vinay.mutya63@outlook.com" userId="e716e051ed39d59a" providerId="LiveId" clId="{87754A01-A61A-4BF3-B6C2-2462DF8512F8}" dt="2026-10-15T04:35:56.444" v="16" actId="20577"/>
          <ac:graphicFrameMkLst>
            <pc:docMk/>
            <pc:sldMk cId="0" sldId="260"/>
            <ac:graphicFrameMk id="6" creationId="{00000000-0000-0000-0000-000000000000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F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94360" y="594360"/>
            <a:ext cx="10972800" cy="5577840"/>
          </a:xfrm>
          <a:prstGeom prst="roundRect">
            <a:avLst/>
          </a:prstGeom>
          <a:solidFill>
            <a:srgbClr val="1B2B49"/>
          </a:solidFill>
          <a:ln>
            <a:solidFill>
              <a:srgbClr val="2F6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960120"/>
            <a:ext cx="10241280" cy="457200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ctr">
              <a:spcAft>
                <a:spcPts val="600"/>
              </a:spcAft>
              <a:defRPr sz="1900" b="1">
                <a:solidFill>
                  <a:srgbClr val="FFC55C"/>
                </a:solidFill>
                <a:latin typeface="Aptos"/>
              </a:defRPr>
            </a:pPr>
            <a:r>
              <a:t>DESIGN AND SIMULATION OF 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08760"/>
            <a:ext cx="10241280" cy="1234440"/>
          </a:xfrm>
          <a:prstGeom prst="rect">
            <a:avLst/>
          </a:prstGeom>
          <a:noFill/>
        </p:spPr>
        <p:txBody>
          <a:bodyPr wrap="square" lIns="73152" tIns="36576" rIns="73152" bIns="27432" anchor="ctr">
            <a:spAutoFit/>
          </a:bodyPr>
          <a:lstStyle/>
          <a:p>
            <a:pPr algn="ctr">
              <a:spcAft>
                <a:spcPts val="600"/>
              </a:spcAft>
              <a:defRPr sz="3200" b="1">
                <a:solidFill>
                  <a:srgbClr val="F8FAFF"/>
                </a:solidFill>
                <a:latin typeface="Aptos"/>
              </a:defRPr>
            </a:pPr>
            <a:r>
              <a:t>AUTOMATIC STREET LIGHT</a:t>
            </a:r>
          </a:p>
          <a:p>
            <a:pPr algn="ctr">
              <a:spcAft>
                <a:spcPts val="600"/>
              </a:spcAft>
              <a:defRPr sz="3200" b="1">
                <a:solidFill>
                  <a:srgbClr val="F8FAFF"/>
                </a:solidFill>
                <a:latin typeface="Aptos"/>
              </a:defRPr>
            </a:pPr>
            <a:r>
              <a:t>CONTROL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0030" y="2788920"/>
            <a:ext cx="10241280" cy="411480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ctr">
              <a:spcAft>
                <a:spcPts val="600"/>
              </a:spcAft>
              <a:defRPr sz="2000" b="0">
                <a:solidFill>
                  <a:srgbClr val="46BECD"/>
                </a:solidFill>
                <a:latin typeface="Aptos"/>
              </a:defRPr>
            </a:pPr>
            <a:r>
              <a:t>Digital Logic Design using Logisim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337560"/>
            <a:ext cx="10058400" cy="457200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ctr">
              <a:spcAft>
                <a:spcPts val="600"/>
              </a:spcAft>
              <a:defRPr sz="1700" b="0">
                <a:solidFill>
                  <a:srgbClr val="E0EBF9"/>
                </a:solidFill>
                <a:latin typeface="Aptos"/>
              </a:defRPr>
            </a:pPr>
            <a:r>
              <a:rPr dirty="0"/>
              <a:t>LDR / Light Sensor  +  Motion Sensor   →   Logic Circuit   →   Street Lamp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977639"/>
            <a:ext cx="10149840" cy="320040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ctr">
              <a:spcAft>
                <a:spcPts val="600"/>
              </a:spcAft>
              <a:defRPr sz="1500" b="1">
                <a:solidFill>
                  <a:srgbClr val="FFC55C"/>
                </a:solidFill>
                <a:latin typeface="Aptos"/>
              </a:defRPr>
            </a:pPr>
            <a:r>
              <a:t>PROJECT TEAM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4370832"/>
            <a:ext cx="6583680" cy="1417320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ctr">
              <a:spcAft>
                <a:spcPts val="600"/>
              </a:spcAft>
              <a:defRPr sz="1600" b="0">
                <a:solidFill>
                  <a:srgbClr val="F8FAFF"/>
                </a:solidFill>
                <a:latin typeface="Aptos"/>
              </a:defRPr>
            </a:pPr>
            <a:r>
              <a:t>Toshita  —  2620030361</a:t>
            </a:r>
          </a:p>
          <a:p>
            <a:pPr algn="ctr">
              <a:spcAft>
                <a:spcPts val="600"/>
              </a:spcAft>
              <a:defRPr sz="1600" b="0">
                <a:solidFill>
                  <a:srgbClr val="F8FAFF"/>
                </a:solidFill>
                <a:latin typeface="Aptos"/>
              </a:defRPr>
            </a:pPr>
            <a:r>
              <a:t>Aparna   —  2620030367</a:t>
            </a:r>
          </a:p>
          <a:p>
            <a:pPr algn="ctr">
              <a:spcAft>
                <a:spcPts val="600"/>
              </a:spcAft>
              <a:defRPr sz="1600" b="0">
                <a:solidFill>
                  <a:srgbClr val="F8FAFF"/>
                </a:solidFill>
                <a:latin typeface="Aptos"/>
              </a:defRPr>
            </a:pPr>
            <a:r>
              <a:t>Sushma   —  2620030374</a:t>
            </a:r>
          </a:p>
          <a:p>
            <a:pPr algn="ctr">
              <a:spcAft>
                <a:spcPts val="600"/>
              </a:spcAft>
              <a:defRPr sz="1600" b="0">
                <a:solidFill>
                  <a:srgbClr val="F8FAFF"/>
                </a:solidFill>
                <a:latin typeface="Aptos"/>
              </a:defRPr>
            </a:pPr>
            <a:r>
              <a:t>Manasi   —  2620030380</a:t>
            </a:r>
          </a:p>
          <a:p>
            <a:pPr algn="ctr">
              <a:spcAft>
                <a:spcPts val="600"/>
              </a:spcAft>
              <a:defRPr sz="1600" b="0">
                <a:solidFill>
                  <a:srgbClr val="F8FAFF"/>
                </a:solidFill>
                <a:latin typeface="Aptos"/>
              </a:defRPr>
            </a:pPr>
            <a:r>
              <a:t>Vinay    —  2620030387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F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881360" cy="566928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46BECD"/>
                </a:solidFill>
                <a:latin typeface="Aptos"/>
              </a:defRPr>
            </a:pPr>
            <a:r>
              <a:t>INTRODUCTION AND OBJECTIVE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87552"/>
            <a:ext cx="1143000" cy="41148"/>
          </a:xfrm>
          <a:prstGeom prst="rect">
            <a:avLst/>
          </a:prstGeom>
          <a:solidFill>
            <a:srgbClr val="FFC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561320" y="6446520"/>
            <a:ext cx="1051560" cy="201168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r">
              <a:spcAft>
                <a:spcPts val="600"/>
              </a:spcAft>
              <a:defRPr sz="1000" b="0">
                <a:solidFill>
                  <a:srgbClr val="E0EBF9"/>
                </a:solidFill>
                <a:latin typeface="Aptos"/>
              </a:defRPr>
            </a:pPr>
            <a:r>
              <a:t>02 /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8FAFF"/>
                </a:solidFill>
                <a:latin typeface="Aptos"/>
              </a:defRPr>
            </a:pPr>
            <a:r>
              <a:t>•  Street lights improve safety and visibility during dark conditions.</a:t>
            </a:r>
          </a:p>
          <a:p>
            <a:pPr>
              <a:spcAft>
                <a:spcPts val="1200"/>
              </a:spcAft>
              <a:defRPr sz="2000">
                <a:solidFill>
                  <a:srgbClr val="F8FAFF"/>
                </a:solidFill>
                <a:latin typeface="Aptos"/>
              </a:defRPr>
            </a:pPr>
            <a:r>
              <a:t>•  Manual switching can waste energy when lights are left ON unnecessarily.</a:t>
            </a:r>
          </a:p>
          <a:p>
            <a:pPr>
              <a:spcAft>
                <a:spcPts val="1200"/>
              </a:spcAft>
              <a:defRPr sz="2000">
                <a:solidFill>
                  <a:srgbClr val="F8FAFF"/>
                </a:solidFill>
                <a:latin typeface="Aptos"/>
              </a:defRPr>
            </a:pPr>
            <a:r>
              <a:t>•  The LDR/light sensor represents day or night, while a motion sensor detects activity.</a:t>
            </a:r>
          </a:p>
          <a:p>
            <a:pPr>
              <a:spcAft>
                <a:spcPts val="1200"/>
              </a:spcAft>
              <a:defRPr sz="2000">
                <a:solidFill>
                  <a:srgbClr val="F8FAFF"/>
                </a:solidFill>
                <a:latin typeface="Aptos"/>
              </a:defRPr>
            </a:pPr>
            <a:r>
              <a:t>•  Objective: design and simulate an automatic controller using basic digital logic gates in Logisim.</a:t>
            </a:r>
          </a:p>
          <a:p>
            <a:pPr>
              <a:spcAft>
                <a:spcPts val="1200"/>
              </a:spcAft>
              <a:defRPr sz="2000">
                <a:solidFill>
                  <a:srgbClr val="F8FAFF"/>
                </a:solidFill>
                <a:latin typeface="Aptos"/>
              </a:defRPr>
            </a:pPr>
            <a:r>
              <a:t>•  The lamp output is controlled by the Boolean expression: Light = ¬L + 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F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881360" cy="566928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46BECD"/>
                </a:solidFill>
                <a:latin typeface="Aptos"/>
              </a:defRPr>
            </a:pPr>
            <a:r>
              <a:t>THEORY AND LOGIC CIRCUIT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87552"/>
            <a:ext cx="1143000" cy="41148"/>
          </a:xfrm>
          <a:prstGeom prst="rect">
            <a:avLst/>
          </a:prstGeom>
          <a:solidFill>
            <a:srgbClr val="FFC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561320" y="6446520"/>
            <a:ext cx="1051560" cy="201168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r">
              <a:spcAft>
                <a:spcPts val="600"/>
              </a:spcAft>
              <a:defRPr sz="1000" b="0">
                <a:solidFill>
                  <a:srgbClr val="E0EBF9"/>
                </a:solidFill>
                <a:latin typeface="Aptos"/>
              </a:defRPr>
            </a:pPr>
            <a:r>
              <a:t>03 /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1828800" cy="320040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FFC55C"/>
                </a:solidFill>
                <a:latin typeface="Aptos"/>
              </a:defRPr>
            </a:pPr>
            <a:r>
              <a:t>INPUTS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2743200" cy="1005840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l">
              <a:spcAft>
                <a:spcPts val="600"/>
              </a:spcAft>
              <a:defRPr sz="1900" b="0">
                <a:solidFill>
                  <a:srgbClr val="F8FAFF"/>
                </a:solidFill>
                <a:latin typeface="Aptos"/>
              </a:defRPr>
            </a:pPr>
            <a:r>
              <a:t>L = 1 for Day, 0 for Night</a:t>
            </a:r>
          </a:p>
          <a:p>
            <a:pPr algn="l">
              <a:spcAft>
                <a:spcPts val="600"/>
              </a:spcAft>
              <a:defRPr sz="1900" b="0">
                <a:solidFill>
                  <a:srgbClr val="F8FAFF"/>
                </a:solidFill>
                <a:latin typeface="Aptos"/>
              </a:defRPr>
            </a:pPr>
            <a:r>
              <a:t>M = 1 when motion is detected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1325880"/>
            <a:ext cx="2377440" cy="320040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FFC55C"/>
                </a:solidFill>
                <a:latin typeface="Aptos"/>
              </a:defRPr>
            </a:pPr>
            <a:r>
              <a:t>BOOLEAN LOGIC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1737360"/>
            <a:ext cx="2560320" cy="1005840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l">
              <a:spcAft>
                <a:spcPts val="600"/>
              </a:spcAft>
              <a:defRPr sz="2300" b="1">
                <a:solidFill>
                  <a:srgbClr val="46BECD"/>
                </a:solidFill>
                <a:latin typeface="Aptos"/>
              </a:defRPr>
            </a:pPr>
            <a:r>
              <a:t>Night = ¬L</a:t>
            </a:r>
          </a:p>
          <a:p>
            <a:pPr algn="l">
              <a:spcAft>
                <a:spcPts val="600"/>
              </a:spcAft>
              <a:defRPr sz="2300" b="1">
                <a:solidFill>
                  <a:srgbClr val="46BECD"/>
                </a:solidFill>
                <a:latin typeface="Aptos"/>
              </a:defRPr>
            </a:pPr>
            <a:r>
              <a:t>Light = ¬L + 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1325880"/>
            <a:ext cx="2011680" cy="320040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FFC55C"/>
                </a:solidFill>
                <a:latin typeface="Aptos"/>
              </a:defRPr>
            </a:pPr>
            <a:r>
              <a:t>GATES USED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1737360"/>
            <a:ext cx="3840480" cy="926407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l">
              <a:spcAft>
                <a:spcPts val="600"/>
              </a:spcAft>
              <a:defRPr sz="1700" b="0">
                <a:solidFill>
                  <a:srgbClr val="F8FAFF"/>
                </a:solidFill>
                <a:latin typeface="Aptos"/>
              </a:defRPr>
            </a:pPr>
            <a:r>
              <a:rPr dirty="0"/>
              <a:t>NOT gate: converts Day to Night</a:t>
            </a:r>
          </a:p>
          <a:p>
            <a:pPr algn="l">
              <a:spcAft>
                <a:spcPts val="600"/>
              </a:spcAft>
              <a:defRPr sz="1700" b="0">
                <a:solidFill>
                  <a:srgbClr val="F8FAFF"/>
                </a:solidFill>
                <a:latin typeface="Aptos"/>
              </a:defRPr>
            </a:pPr>
            <a:r>
              <a:rPr lang="en-IN" dirty="0"/>
              <a:t>AND</a:t>
            </a:r>
            <a:r>
              <a:rPr dirty="0"/>
              <a:t> gate: turns the lamp ON if it is night or motion is detected.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794760"/>
            <a:ext cx="1051560" cy="320040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F8FAFF"/>
                </a:solidFill>
                <a:latin typeface="Aptos"/>
              </a:defRPr>
            </a:pPr>
            <a:r>
              <a:t>L (Day)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508760" y="3950208"/>
            <a:ext cx="502920" cy="0"/>
          </a:xfrm>
          <a:prstGeom prst="line">
            <a:avLst/>
          </a:prstGeom>
          <a:ln w="25400">
            <a:solidFill>
              <a:srgbClr val="46BE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011680" y="3611880"/>
            <a:ext cx="914400" cy="685800"/>
          </a:xfrm>
          <a:prstGeom prst="roundRect">
            <a:avLst/>
          </a:prstGeom>
          <a:solidFill>
            <a:srgbClr val="2F67B0"/>
          </a:solidFill>
          <a:ln>
            <a:solidFill>
              <a:srgbClr val="46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075688" y="3794760"/>
            <a:ext cx="777240" cy="228600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ctr">
              <a:spcAft>
                <a:spcPts val="600"/>
              </a:spcAft>
              <a:defRPr sz="1400" b="1">
                <a:solidFill>
                  <a:srgbClr val="F8FAFF"/>
                </a:solidFill>
                <a:latin typeface="Aptos"/>
              </a:defRPr>
            </a:pPr>
            <a:r>
              <a:t>NOT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926080" y="3950208"/>
            <a:ext cx="1005840" cy="0"/>
          </a:xfrm>
          <a:prstGeom prst="line">
            <a:avLst/>
          </a:prstGeom>
          <a:ln w="25400">
            <a:solidFill>
              <a:srgbClr val="46BE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77240" y="4937760"/>
            <a:ext cx="1234440" cy="320040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F8FAFF"/>
                </a:solidFill>
                <a:latin typeface="Aptos"/>
              </a:defRPr>
            </a:pPr>
            <a:r>
              <a:t>M (Motion)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828800" y="5102352"/>
            <a:ext cx="2103120" cy="0"/>
          </a:xfrm>
          <a:prstGeom prst="line">
            <a:avLst/>
          </a:prstGeom>
          <a:ln w="25400">
            <a:solidFill>
              <a:srgbClr val="46BE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3931920" y="4160520"/>
            <a:ext cx="1234440" cy="960120"/>
          </a:xfrm>
          <a:prstGeom prst="roundRect">
            <a:avLst/>
          </a:prstGeom>
          <a:solidFill>
            <a:srgbClr val="2F67B0"/>
          </a:solidFill>
          <a:ln>
            <a:solidFill>
              <a:srgbClr val="46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069080" y="4480560"/>
            <a:ext cx="960120" cy="310854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ctr">
              <a:spcAft>
                <a:spcPts val="600"/>
              </a:spcAft>
              <a:defRPr sz="1600" b="1">
                <a:solidFill>
                  <a:srgbClr val="F8FAFF"/>
                </a:solidFill>
                <a:latin typeface="Aptos"/>
              </a:defRPr>
            </a:pPr>
            <a:r>
              <a:rPr lang="en-IN" dirty="0"/>
              <a:t>AND</a:t>
            </a:r>
            <a:endParaRPr dirty="0"/>
          </a:p>
        </p:txBody>
      </p:sp>
      <p:cxnSp>
        <p:nvCxnSpPr>
          <p:cNvPr id="20" name="Connector 19"/>
          <p:cNvCxnSpPr/>
          <p:nvPr/>
        </p:nvCxnSpPr>
        <p:spPr>
          <a:xfrm>
            <a:off x="5166360" y="4645152"/>
            <a:ext cx="1463040" cy="0"/>
          </a:xfrm>
          <a:prstGeom prst="line">
            <a:avLst/>
          </a:prstGeom>
          <a:ln w="25400">
            <a:solidFill>
              <a:srgbClr val="46BE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720840" y="4370832"/>
            <a:ext cx="1828800" cy="320040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FFC55C"/>
                </a:solidFill>
                <a:latin typeface="Aptos"/>
              </a:defRPr>
            </a:pPr>
            <a:r>
              <a:t>LIGHT OUTPUT</a:t>
            </a:r>
          </a:p>
        </p:txBody>
      </p:sp>
      <p:sp>
        <p:nvSpPr>
          <p:cNvPr id="22" name="Oval 21"/>
          <p:cNvSpPr/>
          <p:nvPr/>
        </p:nvSpPr>
        <p:spPr>
          <a:xfrm>
            <a:off x="8641080" y="4251960"/>
            <a:ext cx="685800" cy="685800"/>
          </a:xfrm>
          <a:prstGeom prst="ellipse">
            <a:avLst/>
          </a:prstGeom>
          <a:solidFill>
            <a:srgbClr val="FFC55C"/>
          </a:solidFill>
          <a:ln>
            <a:solidFill>
              <a:srgbClr val="F8F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464040" y="4389120"/>
            <a:ext cx="1920240" cy="320040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F8FAFF"/>
                </a:solidFill>
                <a:latin typeface="Aptos"/>
              </a:defRPr>
            </a:pPr>
            <a:r>
              <a:t>Lamp ON / OFF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806440"/>
            <a:ext cx="10241280" cy="295466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ctr">
              <a:spcAft>
                <a:spcPts val="600"/>
              </a:spcAft>
              <a:defRPr sz="1500" b="0">
                <a:solidFill>
                  <a:srgbClr val="E0EBF9"/>
                </a:solidFill>
                <a:latin typeface="Aptos"/>
              </a:defRPr>
            </a:pPr>
            <a:r>
              <a:rPr dirty="0"/>
              <a:t>Circuit concept: invert L to obtain Night, then </a:t>
            </a:r>
            <a:r>
              <a:rPr lang="en-IN" dirty="0"/>
              <a:t>AND</a:t>
            </a:r>
            <a:r>
              <a:rPr dirty="0"/>
              <a:t> it with 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F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881360" cy="566928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46BECD"/>
                </a:solidFill>
                <a:latin typeface="Aptos"/>
              </a:defRPr>
            </a:pPr>
            <a:r>
              <a:t>CIRCUIT DESIGN IN LOGISIM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87552"/>
            <a:ext cx="1143000" cy="41148"/>
          </a:xfrm>
          <a:prstGeom prst="rect">
            <a:avLst/>
          </a:prstGeom>
          <a:solidFill>
            <a:srgbClr val="FFC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561320" y="6446520"/>
            <a:ext cx="1051560" cy="201168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r">
              <a:spcAft>
                <a:spcPts val="600"/>
              </a:spcAft>
              <a:defRPr sz="1000" b="0">
                <a:solidFill>
                  <a:srgbClr val="E0EBF9"/>
                </a:solidFill>
                <a:latin typeface="Aptos"/>
              </a:defRPr>
            </a:pPr>
            <a:r>
              <a:t>04 /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105156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8FAFF"/>
                </a:solidFill>
                <a:latin typeface="Aptos"/>
              </a:defRPr>
            </a:pPr>
            <a:r>
              <a:rPr dirty="0"/>
              <a:t>•  Place two input pins/switches and label them L (Day) and M (Motion).</a:t>
            </a:r>
          </a:p>
          <a:p>
            <a:pPr>
              <a:spcAft>
                <a:spcPts val="1200"/>
              </a:spcAft>
              <a:defRPr sz="2000">
                <a:solidFill>
                  <a:srgbClr val="F8FAFF"/>
                </a:solidFill>
                <a:latin typeface="Aptos"/>
              </a:defRPr>
            </a:pPr>
            <a:r>
              <a:rPr dirty="0"/>
              <a:t>•  Connect L to a NOT gate to produce ¬L (Night).</a:t>
            </a:r>
          </a:p>
          <a:p>
            <a:pPr>
              <a:spcAft>
                <a:spcPts val="1200"/>
              </a:spcAft>
              <a:defRPr sz="2000">
                <a:solidFill>
                  <a:srgbClr val="F8FAFF"/>
                </a:solidFill>
                <a:latin typeface="Aptos"/>
              </a:defRPr>
            </a:pPr>
            <a:r>
              <a:rPr dirty="0"/>
              <a:t>•  Connect ¬L and M to the two inputs of an </a:t>
            </a:r>
            <a:r>
              <a:rPr lang="en-IN" dirty="0"/>
              <a:t>AND</a:t>
            </a:r>
            <a:r>
              <a:rPr dirty="0"/>
              <a:t> gate.</a:t>
            </a:r>
          </a:p>
          <a:p>
            <a:pPr>
              <a:spcAft>
                <a:spcPts val="1200"/>
              </a:spcAft>
              <a:defRPr sz="2000">
                <a:solidFill>
                  <a:srgbClr val="F8FAFF"/>
                </a:solidFill>
                <a:latin typeface="Aptos"/>
              </a:defRPr>
            </a:pPr>
            <a:r>
              <a:rPr dirty="0"/>
              <a:t>•  Connect the </a:t>
            </a:r>
            <a:r>
              <a:rPr lang="en-IN" dirty="0"/>
              <a:t>AND</a:t>
            </a:r>
            <a:r>
              <a:rPr dirty="0"/>
              <a:t> output to an LED or lamp indicator.</a:t>
            </a:r>
          </a:p>
          <a:p>
            <a:pPr>
              <a:spcAft>
                <a:spcPts val="1200"/>
              </a:spcAft>
              <a:defRPr sz="2000">
                <a:solidFill>
                  <a:srgbClr val="F8FAFF"/>
                </a:solidFill>
                <a:latin typeface="Aptos"/>
              </a:defRPr>
            </a:pPr>
            <a:r>
              <a:rPr dirty="0"/>
              <a:t>•  Toggle the input switches to test the output against the truth table.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5074920"/>
            <a:ext cx="228600" cy="228600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l">
              <a:spcAft>
                <a:spcPts val="600"/>
              </a:spcAft>
              <a:defRPr sz="1400" b="1">
                <a:solidFill>
                  <a:srgbClr val="FFC55C"/>
                </a:solidFill>
                <a:latin typeface="Aptos"/>
              </a:defRPr>
            </a:pPr>
            <a:r>
              <a:t>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799" y="5010911"/>
            <a:ext cx="804985" cy="280077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l">
              <a:spcAft>
                <a:spcPts val="600"/>
              </a:spcAft>
              <a:defRPr sz="1400" b="1">
                <a:solidFill>
                  <a:srgbClr val="46BECD"/>
                </a:solidFill>
                <a:latin typeface="Aptos"/>
              </a:defRPr>
            </a:pPr>
            <a:r>
              <a:rPr dirty="0"/>
              <a:t>NOT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5074920"/>
            <a:ext cx="457200" cy="228600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l">
              <a:spcAft>
                <a:spcPts val="600"/>
              </a:spcAft>
              <a:defRPr sz="1400" b="1">
                <a:solidFill>
                  <a:srgbClr val="F8FAFF"/>
                </a:solidFill>
                <a:latin typeface="Aptos"/>
              </a:defRPr>
            </a:pPr>
            <a:r>
              <a:t>¬L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03320" y="5074920"/>
            <a:ext cx="274320" cy="228600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l">
              <a:spcAft>
                <a:spcPts val="600"/>
              </a:spcAft>
              <a:defRPr sz="1400" b="1">
                <a:solidFill>
                  <a:srgbClr val="FFC55C"/>
                </a:solidFill>
                <a:latin typeface="Aptos"/>
              </a:defRPr>
            </a:pPr>
            <a:r>
              <a:t>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5010912"/>
            <a:ext cx="731520" cy="274320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l">
              <a:spcAft>
                <a:spcPts val="600"/>
              </a:spcAft>
              <a:defRPr sz="1400" b="1">
                <a:solidFill>
                  <a:srgbClr val="F8FAFF"/>
                </a:solidFill>
                <a:latin typeface="Aptos"/>
              </a:defRPr>
            </a:pPr>
            <a:r>
              <a:t>LIGHT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234440" y="5175504"/>
            <a:ext cx="502920" cy="0"/>
          </a:xfrm>
          <a:prstGeom prst="line">
            <a:avLst/>
          </a:prstGeom>
          <a:ln w="25400">
            <a:solidFill>
              <a:srgbClr val="46BE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468880" y="5175504"/>
            <a:ext cx="274320" cy="0"/>
          </a:xfrm>
          <a:prstGeom prst="line">
            <a:avLst/>
          </a:prstGeom>
          <a:ln w="25400">
            <a:solidFill>
              <a:srgbClr val="46BE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246120" y="5175504"/>
            <a:ext cx="411480" cy="0"/>
          </a:xfrm>
          <a:prstGeom prst="line">
            <a:avLst/>
          </a:prstGeom>
          <a:ln w="25400">
            <a:solidFill>
              <a:srgbClr val="46BE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977639" y="5175504"/>
            <a:ext cx="548641" cy="0"/>
          </a:xfrm>
          <a:prstGeom prst="line">
            <a:avLst/>
          </a:prstGeom>
          <a:ln w="25400">
            <a:solidFill>
              <a:srgbClr val="46BE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074920" y="5175504"/>
            <a:ext cx="365760" cy="0"/>
          </a:xfrm>
          <a:prstGeom prst="line">
            <a:avLst/>
          </a:prstGeom>
          <a:ln w="25400">
            <a:solidFill>
              <a:srgbClr val="46BE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56302EA0-29CF-0EFE-353E-48A709B6E33B}"/>
              </a:ext>
            </a:extLst>
          </p:cNvPr>
          <p:cNvSpPr txBox="1"/>
          <p:nvPr/>
        </p:nvSpPr>
        <p:spPr>
          <a:xfrm>
            <a:off x="4503420" y="4990838"/>
            <a:ext cx="64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2"/>
                </a:solidFill>
              </a:rPr>
              <a:t>AND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F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881360" cy="566928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46BECD"/>
                </a:solidFill>
                <a:latin typeface="Aptos"/>
              </a:defRPr>
            </a:pPr>
            <a:r>
              <a:rPr dirty="0"/>
              <a:t>SIMULATION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87552"/>
            <a:ext cx="1143000" cy="41148"/>
          </a:xfrm>
          <a:prstGeom prst="rect">
            <a:avLst/>
          </a:prstGeom>
          <a:solidFill>
            <a:srgbClr val="FFC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561320" y="6446520"/>
            <a:ext cx="1051560" cy="201168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r">
              <a:spcAft>
                <a:spcPts val="600"/>
              </a:spcAft>
              <a:defRPr sz="1000" b="0">
                <a:solidFill>
                  <a:srgbClr val="E0EBF9"/>
                </a:solidFill>
                <a:latin typeface="Aptos"/>
              </a:defRPr>
            </a:pPr>
            <a:r>
              <a:t>05 /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2743200" cy="365760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l">
              <a:spcAft>
                <a:spcPts val="600"/>
              </a:spcAft>
              <a:defRPr sz="2100" b="1">
                <a:solidFill>
                  <a:srgbClr val="FFC55C"/>
                </a:solidFill>
                <a:latin typeface="Aptos"/>
              </a:defRPr>
            </a:pPr>
            <a:r>
              <a:t>Truth Table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0011001"/>
              </p:ext>
            </p:extLst>
          </p:nvPr>
        </p:nvGraphicFramePr>
        <p:xfrm>
          <a:off x="822960" y="1783080"/>
          <a:ext cx="530352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6072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8FAFF"/>
                          </a:solidFill>
                          <a:latin typeface="Aptos"/>
                        </a:defRPr>
                      </a:pPr>
                      <a:r>
                        <a:t>L (Day)</a:t>
                      </a:r>
                    </a:p>
                  </a:txBody>
                  <a:tcPr marL="73152" marR="73152">
                    <a:solidFill>
                      <a:srgbClr val="2F67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8FAFF"/>
                          </a:solidFill>
                          <a:latin typeface="Aptos"/>
                        </a:defRPr>
                      </a:pPr>
                      <a:r>
                        <a:rPr dirty="0"/>
                        <a:t>M (Motion)</a:t>
                      </a:r>
                    </a:p>
                  </a:txBody>
                  <a:tcPr marL="73152" marR="73152">
                    <a:solidFill>
                      <a:srgbClr val="2F67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8FAFF"/>
                          </a:solidFill>
                          <a:latin typeface="Aptos"/>
                        </a:defRPr>
                      </a:pPr>
                      <a:r>
                        <a:t>Light Output</a:t>
                      </a:r>
                    </a:p>
                  </a:txBody>
                  <a:tcPr marL="73152" marR="73152">
                    <a:solidFill>
                      <a:srgbClr val="2F67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F8FAFF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 marL="73152" marR="73152">
                    <a:solidFill>
                      <a:srgbClr val="1F30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F8FAFF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 marL="73152" marR="73152">
                    <a:solidFill>
                      <a:srgbClr val="1F30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F8FAFF"/>
                          </a:solidFill>
                          <a:latin typeface="Aptos"/>
                        </a:defRPr>
                      </a:pPr>
                      <a:r>
                        <a:rPr lang="en-IN" dirty="0"/>
                        <a:t>1</a:t>
                      </a:r>
                      <a:r>
                        <a:rPr dirty="0"/>
                        <a:t> (O</a:t>
                      </a:r>
                      <a:r>
                        <a:rPr lang="en-IN" dirty="0"/>
                        <a:t>N</a:t>
                      </a:r>
                      <a:r>
                        <a:rPr dirty="0"/>
                        <a:t>)</a:t>
                      </a:r>
                    </a:p>
                  </a:txBody>
                  <a:tcPr marL="73152" marR="73152">
                    <a:solidFill>
                      <a:srgbClr val="1F30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F8FAFF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 marL="73152" marR="73152">
                    <a:solidFill>
                      <a:srgbClr val="1F30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F8FAFF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 marL="73152" marR="73152">
                    <a:solidFill>
                      <a:srgbClr val="1F30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F8FAFF"/>
                          </a:solidFill>
                          <a:latin typeface="Aptos"/>
                        </a:defRPr>
                      </a:pPr>
                      <a:r>
                        <a:t>1 (ON)</a:t>
                      </a:r>
                    </a:p>
                  </a:txBody>
                  <a:tcPr marL="73152" marR="73152">
                    <a:solidFill>
                      <a:srgbClr val="1F30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F8FAFF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 marL="73152" marR="73152">
                    <a:solidFill>
                      <a:srgbClr val="1F30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F8FAFF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 marL="73152" marR="73152">
                    <a:solidFill>
                      <a:srgbClr val="1F30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F8FAFF"/>
                          </a:solidFill>
                          <a:latin typeface="Aptos"/>
                        </a:defRPr>
                      </a:pPr>
                      <a:r>
                        <a:t>0 (OFF)</a:t>
                      </a:r>
                    </a:p>
                  </a:txBody>
                  <a:tcPr marL="73152" marR="73152">
                    <a:solidFill>
                      <a:srgbClr val="1F30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F8FAFF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 marL="73152" marR="73152">
                    <a:solidFill>
                      <a:srgbClr val="1F30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F8FAFF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 marL="73152" marR="73152">
                    <a:solidFill>
                      <a:srgbClr val="1F30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F8FAFF"/>
                          </a:solidFill>
                          <a:latin typeface="Aptos"/>
                        </a:defRPr>
                      </a:pPr>
                      <a:r>
                        <a:rPr lang="en-IN" dirty="0"/>
                        <a:t>0</a:t>
                      </a:r>
                      <a:r>
                        <a:rPr dirty="0"/>
                        <a:t> (</a:t>
                      </a:r>
                      <a:r>
                        <a:rPr lang="en-IN" dirty="0"/>
                        <a:t>OFF)</a:t>
                      </a:r>
                      <a:endParaRPr dirty="0"/>
                    </a:p>
                  </a:txBody>
                  <a:tcPr marL="73152" marR="73152">
                    <a:solidFill>
                      <a:srgbClr val="1F30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629400" y="1280160"/>
            <a:ext cx="2743200" cy="365760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l">
              <a:spcAft>
                <a:spcPts val="600"/>
              </a:spcAft>
              <a:defRPr sz="2100" b="1">
                <a:solidFill>
                  <a:srgbClr val="FFC55C"/>
                </a:solidFill>
                <a:latin typeface="Aptos"/>
              </a:defRPr>
            </a:pPr>
            <a:r>
              <a:t>Test cases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783080"/>
            <a:ext cx="4572000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8FAFF"/>
                </a:solidFill>
                <a:latin typeface="Aptos"/>
              </a:defRPr>
            </a:pPr>
            <a:r>
              <a:rPr dirty="0"/>
              <a:t>•  Night + </a:t>
            </a:r>
            <a:r>
              <a:rPr lang="en-IN" dirty="0"/>
              <a:t>no</a:t>
            </a:r>
            <a:r>
              <a:rPr dirty="0"/>
              <a:t> motion → </a:t>
            </a:r>
            <a:r>
              <a:rPr lang="en-IN" dirty="0"/>
              <a:t>ON</a:t>
            </a:r>
            <a:endParaRPr dirty="0"/>
          </a:p>
          <a:p>
            <a:pPr>
              <a:spcAft>
                <a:spcPts val="1200"/>
              </a:spcAft>
              <a:defRPr sz="1800">
                <a:solidFill>
                  <a:srgbClr val="F8FAFF"/>
                </a:solidFill>
                <a:latin typeface="Aptos"/>
              </a:defRPr>
            </a:pPr>
            <a:r>
              <a:rPr dirty="0"/>
              <a:t>•  Night + motion → ON</a:t>
            </a:r>
          </a:p>
          <a:p>
            <a:pPr>
              <a:spcAft>
                <a:spcPts val="1200"/>
              </a:spcAft>
              <a:defRPr sz="1800">
                <a:solidFill>
                  <a:srgbClr val="F8FAFF"/>
                </a:solidFill>
                <a:latin typeface="Aptos"/>
              </a:defRPr>
            </a:pPr>
            <a:r>
              <a:rPr dirty="0"/>
              <a:t>•  Day + no motion → OFF</a:t>
            </a:r>
          </a:p>
          <a:p>
            <a:pPr>
              <a:spcAft>
                <a:spcPts val="1200"/>
              </a:spcAft>
              <a:defRPr sz="1800">
                <a:solidFill>
                  <a:srgbClr val="F8FAFF"/>
                </a:solidFill>
                <a:latin typeface="Aptos"/>
              </a:defRPr>
            </a:pPr>
            <a:r>
              <a:rPr dirty="0"/>
              <a:t>•  Day + motion → </a:t>
            </a:r>
            <a:r>
              <a:rPr lang="en-IN" dirty="0"/>
              <a:t>OFF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6629400" y="5120640"/>
            <a:ext cx="4114800" cy="411480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l">
              <a:spcAft>
                <a:spcPts val="600"/>
              </a:spcAft>
              <a:defRPr sz="2200" b="1">
                <a:solidFill>
                  <a:srgbClr val="46BECD"/>
                </a:solidFill>
                <a:latin typeface="Aptos"/>
              </a:defRPr>
            </a:pPr>
            <a:r>
              <a:rPr dirty="0"/>
              <a:t>Equation: Light = ¬L </a:t>
            </a:r>
            <a:r>
              <a:rPr lang="en-IN" dirty="0"/>
              <a:t>.</a:t>
            </a:r>
            <a:r>
              <a:rPr dirty="0"/>
              <a:t> 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715000"/>
            <a:ext cx="10332720" cy="320040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l">
              <a:spcAft>
                <a:spcPts val="600"/>
              </a:spcAft>
              <a:defRPr sz="1500" b="0">
                <a:solidFill>
                  <a:srgbClr val="E0EBF9"/>
                </a:solidFill>
                <a:latin typeface="Aptos"/>
              </a:defRPr>
            </a:pPr>
            <a:r>
              <a:t>In Logisim, toggle both inputs and verify that the lamp matches each row.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F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881360" cy="566928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46BECD"/>
                </a:solidFill>
                <a:latin typeface="Aptos"/>
              </a:defRPr>
            </a:pPr>
            <a:r>
              <a:t>CONCLUSION AND APPLICATIONS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87552"/>
            <a:ext cx="1143000" cy="41148"/>
          </a:xfrm>
          <a:prstGeom prst="rect">
            <a:avLst/>
          </a:prstGeom>
          <a:solidFill>
            <a:srgbClr val="FFC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561320" y="6446520"/>
            <a:ext cx="1051560" cy="201168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r">
              <a:spcAft>
                <a:spcPts val="600"/>
              </a:spcAft>
              <a:defRPr sz="1000" b="0">
                <a:solidFill>
                  <a:srgbClr val="E0EBF9"/>
                </a:solidFill>
                <a:latin typeface="Aptos"/>
              </a:defRPr>
            </a:pPr>
            <a:r>
              <a:t>06 /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2194560" cy="365760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l">
              <a:spcAft>
                <a:spcPts val="600"/>
              </a:spcAft>
              <a:defRPr sz="1700" b="1">
                <a:solidFill>
                  <a:srgbClr val="FFC55C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5486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F8FAFF"/>
                </a:solidFill>
                <a:latin typeface="Aptos"/>
              </a:defRPr>
            </a:pPr>
            <a:r>
              <a:t>•  The controller demonstrates automatic street-light operation using simple digital logic.</a:t>
            </a:r>
          </a:p>
          <a:p>
            <a:pPr>
              <a:spcAft>
                <a:spcPts val="1200"/>
              </a:spcAft>
              <a:defRPr sz="1700">
                <a:solidFill>
                  <a:srgbClr val="F8FAFF"/>
                </a:solidFill>
                <a:latin typeface="Aptos"/>
              </a:defRPr>
            </a:pPr>
            <a:r>
              <a:t>•  The LDR represents day/night conditions, while the motion sensor represents detected activity.</a:t>
            </a:r>
          </a:p>
          <a:p>
            <a:pPr>
              <a:spcAft>
                <a:spcPts val="1200"/>
              </a:spcAft>
              <a:defRPr sz="1700">
                <a:solidFill>
                  <a:srgbClr val="F8FAFF"/>
                </a:solidFill>
                <a:latin typeface="Aptos"/>
              </a:defRPr>
            </a:pPr>
            <a:r>
              <a:t>•  The Boolean expression Light = ¬L + M determines the lamp output.</a:t>
            </a:r>
          </a:p>
          <a:p>
            <a:pPr>
              <a:spcAft>
                <a:spcPts val="1200"/>
              </a:spcAft>
              <a:defRPr sz="1700">
                <a:solidFill>
                  <a:srgbClr val="F8FAFF"/>
                </a:solidFill>
                <a:latin typeface="Aptos"/>
              </a:defRPr>
            </a:pPr>
            <a:r>
              <a:t>•  The circuit can be tested and verified in Logisim.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325880"/>
            <a:ext cx="2194560" cy="365760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l">
              <a:spcAft>
                <a:spcPts val="600"/>
              </a:spcAft>
              <a:defRPr sz="1700" b="1">
                <a:solidFill>
                  <a:srgbClr val="FFC55C"/>
                </a:solidFill>
                <a:latin typeface="Aptos"/>
              </a:defRPr>
            </a:pPr>
            <a:r>
              <a:t>APPLICATIONS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783080"/>
            <a:ext cx="45720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F8FAFF"/>
                </a:solidFill>
                <a:latin typeface="Aptos"/>
              </a:defRPr>
            </a:pPr>
            <a:r>
              <a:t>•  Public roads and highways</a:t>
            </a:r>
          </a:p>
          <a:p>
            <a:pPr>
              <a:spcAft>
                <a:spcPts val="1200"/>
              </a:spcAft>
              <a:defRPr sz="1700">
                <a:solidFill>
                  <a:srgbClr val="F8FAFF"/>
                </a:solidFill>
                <a:latin typeface="Aptos"/>
              </a:defRPr>
            </a:pPr>
            <a:r>
              <a:t>•  College and school campuses</a:t>
            </a:r>
          </a:p>
          <a:p>
            <a:pPr>
              <a:spcAft>
                <a:spcPts val="1200"/>
              </a:spcAft>
              <a:defRPr sz="1700">
                <a:solidFill>
                  <a:srgbClr val="F8FAFF"/>
                </a:solidFill>
                <a:latin typeface="Aptos"/>
              </a:defRPr>
            </a:pPr>
            <a:r>
              <a:t>•  Parking areas and residential streets</a:t>
            </a:r>
          </a:p>
          <a:p>
            <a:pPr>
              <a:spcAft>
                <a:spcPts val="1200"/>
              </a:spcAft>
              <a:defRPr sz="1700">
                <a:solidFill>
                  <a:srgbClr val="F8FAFF"/>
                </a:solidFill>
                <a:latin typeface="Aptos"/>
              </a:defRPr>
            </a:pPr>
            <a:r>
              <a:t>•  Smart-city and building security lighting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806440"/>
            <a:ext cx="10424160" cy="320040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ctr">
              <a:spcAft>
                <a:spcPts val="600"/>
              </a:spcAft>
              <a:defRPr sz="1600" b="0">
                <a:solidFill>
                  <a:srgbClr val="46BECD"/>
                </a:solidFill>
                <a:latin typeface="Aptos"/>
              </a:defRPr>
            </a:pPr>
            <a:r>
              <a:t>Possible improvement: add a timer, dimming control, or extra sensors.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500</Words>
  <Application>Microsoft Office PowerPoint</Application>
  <PresentationFormat>Widescreen</PresentationFormat>
  <Paragraphs>87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Vinay</dc:creator>
  <cp:keywords/>
  <dc:description>generated using python-pptx</dc:description>
  <cp:lastModifiedBy>vinay.mutya63@outlook.com</cp:lastModifiedBy>
  <cp:revision>3</cp:revision>
  <dcterms:created xsi:type="dcterms:W3CDTF">2013-01-27T09:14:16Z</dcterms:created>
  <dcterms:modified xsi:type="dcterms:W3CDTF">2026-10-15T04:36:56Z</dcterms:modified>
  <cp:category/>
</cp:coreProperties>
</file>