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33.png"/><Relationship Id="rId5" Type="http://schemas.openxmlformats.org/officeDocument/2006/relationships/image" Target="../media/image13.png"/><Relationship Id="rId10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762" y="1977479"/>
            <a:ext cx="3330326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59151" y="2453729"/>
            <a:ext cx="7073696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Design &amp; Simulation of</a:t>
            </a:r>
            <a:r>
              <a:rPr dirty="0"/>
              <a:t>
</a:t>
            </a: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 Half &amp; Full Adders in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1687" y="3851820"/>
            <a:ext cx="80486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Complete implementation, Boolean algebra derivation, and interactive circuit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3837" y="452809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2734567"/>
            <a:ext cx="666750" cy="3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00663" y="3001267"/>
            <a:ext cx="5390673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01. Half Adder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8012" y="3723233"/>
            <a:ext cx="58959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2-bit fundamental combinational addition and logic gate mapping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27820"/>
            <a:ext cx="5343525" cy="2819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27820"/>
            <a:ext cx="5343525" cy="2819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3713708"/>
            <a:ext cx="4714875" cy="4371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713708"/>
            <a:ext cx="4714875" cy="447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525" y="2642145"/>
            <a:ext cx="468058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Sum Logic (XOR Gate)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042195"/>
            <a:ext cx="47148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The Sum output computes the modulo-2 addition of two single-bit inputs (A and B). It produces logic HIGH (1) if exactly one input is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265116"/>
            <a:ext cx="471487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Configured in Logisim by setting an XOR gate's inputs to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6575" y="2642145"/>
            <a:ext cx="4630578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Carry Logic (AND Gate)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042195"/>
            <a:ext cx="47148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The Carry output handles the arithmetic overflow. It generates a carry HIGH (1) only when both input bits are simultaneously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275683"/>
            <a:ext cx="47148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Configured in Logisim by placing a 2-input AND gate in parallel with XOR.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2670720"/>
            <a:ext cx="1619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4607" y="3837533"/>
            <a:ext cx="2316360" cy="18945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2670720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3754" y="3837533"/>
            <a:ext cx="1610915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Half Adder Logic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542133"/>
            <a:ext cx="11029950" cy="23907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542133"/>
          <a:ext cx="11020423" cy="2390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01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Input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Input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Carry Out (C)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Sum Output (S)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Arithmetic 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 + 0 = 0 (Base 10: 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 + 1 = 1 (Base 10: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 + 0 = 1 (Base 10: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 + 1 = 10 (Base 10: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3018383"/>
            <a:ext cx="1412974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98761" y="3018383"/>
            <a:ext cx="1405383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4145" y="3018383"/>
            <a:ext cx="2123182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27327" y="3018383"/>
            <a:ext cx="237738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4708" y="3018383"/>
            <a:ext cx="3701504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787" y="3504158"/>
            <a:ext cx="14129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98761" y="3504158"/>
            <a:ext cx="1405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4145" y="3504158"/>
            <a:ext cx="21231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27327" y="3504158"/>
            <a:ext cx="23773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4708" y="3504158"/>
            <a:ext cx="37015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787" y="3975645"/>
            <a:ext cx="14129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98761" y="3975645"/>
            <a:ext cx="1405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04145" y="3975645"/>
            <a:ext cx="21231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27327" y="3975645"/>
            <a:ext cx="23773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04708" y="3975645"/>
            <a:ext cx="37015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787" y="4447133"/>
            <a:ext cx="14129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98761" y="4447133"/>
            <a:ext cx="1405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04145" y="4447133"/>
            <a:ext cx="21231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27327" y="4447133"/>
            <a:ext cx="23773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04708" y="4447133"/>
            <a:ext cx="37015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780" y="3161258"/>
            <a:ext cx="285750" cy="2381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504" y="3161258"/>
            <a:ext cx="285750" cy="2381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861" y="3161258"/>
            <a:ext cx="285750" cy="2381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142" y="3161258"/>
            <a:ext cx="285750" cy="2381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780" y="3632745"/>
            <a:ext cx="285750" cy="2381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8504" y="3632745"/>
            <a:ext cx="285750" cy="2381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861" y="3632745"/>
            <a:ext cx="285750" cy="2381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142" y="3632745"/>
            <a:ext cx="285750" cy="2381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780" y="4104233"/>
            <a:ext cx="285750" cy="2381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504" y="4104233"/>
            <a:ext cx="285750" cy="2381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861" y="4104233"/>
            <a:ext cx="285750" cy="2381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142" y="4104233"/>
            <a:ext cx="285750" cy="2381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780" y="4575720"/>
            <a:ext cx="285750" cy="2381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8504" y="4575720"/>
            <a:ext cx="285750" cy="2381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861" y="4575720"/>
            <a:ext cx="285750" cy="2381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142" y="4575720"/>
            <a:ext cx="285750" cy="2381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Half Adder Truth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23020"/>
            <a:ext cx="5343525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825" y="2023020"/>
            <a:ext cx="50387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Gate Parameter Reduction: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 Logisim, gates default to 5 inputs. Reduce both XOR and AND gates to 2 Number of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2661195"/>
            <a:ext cx="503872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Pin Assignment: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Place 2 input pins labeled A and B on the left, and 2 output pins labeled Sum and Carry on the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08895"/>
            <a:ext cx="5038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Wire Routing: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Connect pin A to top inputs of both gates; connect pin B to bottom inputs of both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937545"/>
            <a:ext cx="5038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Poke Tool Simulation: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Switch to the Poke tool (hand icon) to dynamically click inputs and verify live logic levels.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2032545"/>
            <a:ext cx="5324475" cy="3409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51595"/>
            <a:ext cx="16192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689770"/>
            <a:ext cx="14287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337470"/>
            <a:ext cx="20002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966120"/>
            <a:ext cx="142875" cy="1619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Logisim Setup: Half Adder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2734567"/>
            <a:ext cx="666750" cy="3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5576" y="3001267"/>
            <a:ext cx="6780847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02. Full Adder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0" y="3723233"/>
            <a:ext cx="6096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Cascading two half adders with carry propagation for 3-bit addition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590698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Modular 3-Bit Addition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912715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lus Jakarta Sans"/>
              </a:rPr>
              <a:t>Overcoming Half Adder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331815"/>
            <a:ext cx="53244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 Half Adder cannot accept an incoming carry bit from a preceding stage, limiting it to single-column additions.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937545"/>
            <a:ext cx="5324475" cy="491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 Full Adder resolves this by incorporating 3 inputs: A, B, and Cin, producing final Sum and Cout using 2 XOR, 2 AND, and 1 OR gate.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18295"/>
            <a:ext cx="5343525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18295"/>
            <a:ext cx="5343525" cy="2838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632620"/>
            <a:ext cx="46005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Full Adder Sum Expression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032670"/>
            <a:ext cx="4714875" cy="45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Computed by chaining the first half adder's XOR output with the third input C (Carry-in):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4285208"/>
            <a:ext cx="47148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Output evaluates to HIGH whenever an odd number of inputs are 1 (parity check).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150" y="2632620"/>
            <a:ext cx="46005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Carry-Out (Cout) 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032670"/>
            <a:ext cx="47148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Generated if either the first stage produces a carry or the second stage produces a carry: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285208"/>
            <a:ext cx="47148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The two AND gate outputs feed into a single 2-input OR gate for Cout.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661195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689" y="3837533"/>
            <a:ext cx="2426196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661195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6419" y="3828008"/>
            <a:ext cx="3265586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Full Adder Boolean Expressions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599158"/>
            <a:ext cx="11029950" cy="427672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599158"/>
          <a:ext cx="11020422" cy="4276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2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2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0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191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Cin (C)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Carry Out (Cout)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Sum Output (S)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Decimal Addition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91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 + 0 + 0 = 00₂ (0)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91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 dirty="0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 + 0 + 1 = 01₂ 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91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 + 1 + 0 = 01₂ 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91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 + 1 + 1 = 10₂ (2)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91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 + 0 + 0 = 01₂ 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91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 + 0 + 1 = 10₂ (2)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91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 + 1 + 0 = 10₂ (2)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197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 dirty="0">
                          <a:solidFill>
                            <a:srgbClr val="94A3B8"/>
                          </a:solidFill>
                          <a:latin typeface="Inter"/>
                        </a:rPr>
                        <a:t>1 + 1 + 1 = 11₂ (3)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075408"/>
            <a:ext cx="105846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4253" y="2075408"/>
            <a:ext cx="105087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95128" y="2075408"/>
            <a:ext cx="1381273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76402" y="2075408"/>
            <a:ext cx="2522339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98741" y="2075408"/>
            <a:ext cx="2387203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85944" y="2075408"/>
            <a:ext cx="2620267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" y="2561183"/>
            <a:ext cx="10584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4253" y="2561183"/>
            <a:ext cx="1050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5128" y="2561183"/>
            <a:ext cx="13812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76402" y="2561183"/>
            <a:ext cx="25223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98741" y="2561183"/>
            <a:ext cx="23872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85944" y="2561183"/>
            <a:ext cx="26202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3032670"/>
            <a:ext cx="10584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4253" y="3032670"/>
            <a:ext cx="1050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95128" y="3032670"/>
            <a:ext cx="13812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76402" y="3032670"/>
            <a:ext cx="25223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98741" y="3032670"/>
            <a:ext cx="23872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85944" y="3032670"/>
            <a:ext cx="26202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787" y="3504158"/>
            <a:ext cx="10584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44253" y="3504158"/>
            <a:ext cx="1050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695128" y="3504158"/>
            <a:ext cx="13812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76402" y="3504158"/>
            <a:ext cx="25223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98741" y="3504158"/>
            <a:ext cx="23872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85944" y="3504158"/>
            <a:ext cx="26202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787" y="3975645"/>
            <a:ext cx="10584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44253" y="3975645"/>
            <a:ext cx="1050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95128" y="3975645"/>
            <a:ext cx="13812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076402" y="3975645"/>
            <a:ext cx="25223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98741" y="3975645"/>
            <a:ext cx="23872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85944" y="3975645"/>
            <a:ext cx="26202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5787" y="4447133"/>
            <a:ext cx="10584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644253" y="4447133"/>
            <a:ext cx="1050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695128" y="4447133"/>
            <a:ext cx="13812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076402" y="4447133"/>
            <a:ext cx="25223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98741" y="4447133"/>
            <a:ext cx="23872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85944" y="4447133"/>
            <a:ext cx="26202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85787" y="4918620"/>
            <a:ext cx="10584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44253" y="4918620"/>
            <a:ext cx="1050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695128" y="4918620"/>
            <a:ext cx="13812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076402" y="4918620"/>
            <a:ext cx="25223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98741" y="4918620"/>
            <a:ext cx="23872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85944" y="4918620"/>
            <a:ext cx="26202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85787" y="5390108"/>
            <a:ext cx="10584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644253" y="5390108"/>
            <a:ext cx="1050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695128" y="5390108"/>
            <a:ext cx="13812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076402" y="5390108"/>
            <a:ext cx="25223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98741" y="5390108"/>
            <a:ext cx="23872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85944" y="5390108"/>
            <a:ext cx="26202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26" y="2218283"/>
            <a:ext cx="285750" cy="2381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741" y="2218283"/>
            <a:ext cx="285750" cy="23812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816" y="2218283"/>
            <a:ext cx="285750" cy="23812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696" y="2218283"/>
            <a:ext cx="285750" cy="23812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467" y="2218283"/>
            <a:ext cx="285750" cy="23812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26" y="2689770"/>
            <a:ext cx="285750" cy="23812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741" y="2689770"/>
            <a:ext cx="285750" cy="23812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2816" y="2689770"/>
            <a:ext cx="285750" cy="238125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696" y="2689770"/>
            <a:ext cx="285750" cy="238125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467" y="2689770"/>
            <a:ext cx="285750" cy="238125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526" y="3161258"/>
            <a:ext cx="285750" cy="23812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6741" y="3161258"/>
            <a:ext cx="285750" cy="238125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2816" y="3161258"/>
            <a:ext cx="285750" cy="238125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4696" y="3161258"/>
            <a:ext cx="285750" cy="238125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9467" y="3161258"/>
            <a:ext cx="285750" cy="238125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26" y="3632745"/>
            <a:ext cx="285750" cy="238125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6741" y="3632745"/>
            <a:ext cx="285750" cy="238125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2816" y="3632745"/>
            <a:ext cx="285750" cy="238125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696" y="3632745"/>
            <a:ext cx="285750" cy="238125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9467" y="3632745"/>
            <a:ext cx="285750" cy="238125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526" y="4104233"/>
            <a:ext cx="285750" cy="23812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6741" y="4104233"/>
            <a:ext cx="285750" cy="238125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2816" y="4104233"/>
            <a:ext cx="285750" cy="238125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4696" y="4104233"/>
            <a:ext cx="285750" cy="238125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9467" y="4104233"/>
            <a:ext cx="285750" cy="238125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26" y="4575720"/>
            <a:ext cx="285750" cy="238125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741" y="4575720"/>
            <a:ext cx="285750" cy="238125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2816" y="4575720"/>
            <a:ext cx="285750" cy="238125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696" y="4575720"/>
            <a:ext cx="285750" cy="238125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9467" y="4575720"/>
            <a:ext cx="285750" cy="238125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526" y="5047208"/>
            <a:ext cx="285750" cy="238125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6741" y="5047208"/>
            <a:ext cx="285750" cy="238125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2816" y="5047208"/>
            <a:ext cx="285750" cy="238125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4696" y="5047208"/>
            <a:ext cx="285750" cy="238125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9467" y="5047208"/>
            <a:ext cx="285750" cy="238125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26" y="5518695"/>
            <a:ext cx="285750" cy="238125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6741" y="5518695"/>
            <a:ext cx="285750" cy="238125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2816" y="5518695"/>
            <a:ext cx="285750" cy="238125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696" y="5518695"/>
            <a:ext cx="285750" cy="238125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467" y="5518695"/>
            <a:ext cx="285750" cy="238125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Full Adder Complete Truth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27870"/>
            <a:ext cx="5343525" cy="2019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050" y="311839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0" i="0" u="none">
                <a:solidFill>
                  <a:srgbClr val="38BDF8"/>
                </a:solidFill>
                <a:latin typeface="Plus Jakarta Sans ExtraBol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050" y="4128045"/>
            <a:ext cx="49434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Inter SemiBold"/>
              </a:rPr>
              <a:t>Total Logic Gates in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842170"/>
            <a:ext cx="561070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Modular Circuit Hardware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3261270"/>
            <a:ext cx="5343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Inter"/>
              </a:rPr>
              <a:t>• 2 × XOR Gates: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Compute intermediate half-sum and final sum.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3604170"/>
            <a:ext cx="5343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Inter"/>
              </a:rPr>
              <a:t>• 2 × AND Gates: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Calculate stage 1 and stage 2 partial carries.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3947070"/>
            <a:ext cx="5343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Inter"/>
              </a:rPr>
              <a:t>• 1 × OR Gate: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Combines partial carries into final Cout.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4289970"/>
            <a:ext cx="5343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Inter"/>
              </a:rPr>
              <a:t>• Total I/O: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3 Input Pins (A, B, C) and 2 Output Pins (Sum, Carry).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Full Adder Gate Composition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61370"/>
            <a:ext cx="2536775" cy="9274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503437"/>
            <a:ext cx="2536775" cy="11007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061370"/>
            <a:ext cx="2536775" cy="9274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676673"/>
            <a:ext cx="2536775" cy="9274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813720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7626" y="4223295"/>
            <a:ext cx="232357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1. Gate 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80470"/>
            <a:ext cx="22129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Place two XOR, two AND, and one OR gate; set input attributes to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635" y="2665362"/>
            <a:ext cx="232357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2. Cascade Wiring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958" y="2922537"/>
            <a:ext cx="22129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Route stage 1 XOR to stage 2 XOR; connect both AND outputs to OR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644" y="4223295"/>
            <a:ext cx="232357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3. Pin Labeling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967" y="4480470"/>
            <a:ext cx="22129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Attach labeled input pins (A, B, C) and output pins (Sum, Carry).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652" y="2838598"/>
            <a:ext cx="232357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4. State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975" y="3095773"/>
            <a:ext cx="22129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Toggle inputs 000 through 111 using Poke Tool to confirm table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Simulation &amp; Verification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63687" y="374704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94696" y="374704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25704" y="374704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56713" y="374704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825" y="1679227"/>
            <a:ext cx="2284348" cy="712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609"/>
              </a:lnSpc>
            </a:pPr>
            <a:r>
              <a:rPr sz="5100" b="1" i="0" u="none" dirty="0">
                <a:solidFill>
                  <a:srgbClr val="FFFFFF"/>
                </a:solidFill>
                <a:latin typeface="Plus Jakarta Sans"/>
              </a:rPr>
              <a:t>Thank </a:t>
            </a:r>
            <a:r>
              <a:rPr sz="5100" b="1" i="0" u="none" dirty="0">
                <a:solidFill>
                  <a:srgbClr val="38BDF8"/>
                </a:solidFill>
                <a:latin typeface="Plus Jakarta Sans"/>
              </a:rPr>
              <a:t>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0775" y="3256508"/>
            <a:ext cx="74104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Design &amp; Simulation of Half and Full Adders Successfully Verified in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4075658"/>
            <a:ext cx="2305050" cy="1137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 dirty="0">
                <a:solidFill>
                  <a:srgbClr val="38BDF8"/>
                </a:solidFill>
                <a:latin typeface="Inter"/>
              </a:rPr>
              <a:t>Presenter: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n-IN" sz="1200" b="0" i="0" u="none" dirty="0">
                <a:solidFill>
                  <a:srgbClr val="94A3B8"/>
                </a:solidFill>
                <a:latin typeface="Inter"/>
              </a:rPr>
              <a:t>Toshita</a:t>
            </a:r>
            <a:r>
              <a:rPr lang="en-IN" sz="1200" dirty="0">
                <a:solidFill>
                  <a:srgbClr val="94A3B8"/>
                </a:solidFill>
                <a:latin typeface="Inter"/>
              </a:rPr>
              <a:t> </a:t>
            </a:r>
          </a:p>
          <a:p>
            <a:pPr algn="ctr">
              <a:lnSpc>
                <a:spcPts val="1800"/>
              </a:lnSpc>
            </a:pPr>
            <a:r>
              <a:rPr lang="en-IN" sz="1200" b="0" i="0" u="none" dirty="0">
                <a:solidFill>
                  <a:srgbClr val="94A3B8"/>
                </a:solidFill>
                <a:latin typeface="Inter"/>
              </a:rPr>
              <a:t>Vinay</a:t>
            </a:r>
          </a:p>
          <a:p>
            <a:pPr algn="ctr">
              <a:lnSpc>
                <a:spcPts val="1800"/>
              </a:lnSpc>
            </a:pPr>
            <a:r>
              <a:rPr lang="en-IN" sz="1200" dirty="0">
                <a:solidFill>
                  <a:srgbClr val="94A3B8"/>
                </a:solidFill>
                <a:latin typeface="Inter"/>
              </a:rPr>
              <a:t>Aparna</a:t>
            </a:r>
          </a:p>
          <a:p>
            <a:pPr algn="ctr">
              <a:lnSpc>
                <a:spcPts val="1800"/>
              </a:lnSpc>
            </a:pPr>
            <a:r>
              <a:rPr lang="en-IN" sz="1200" b="0" i="0" u="none" dirty="0">
                <a:solidFill>
                  <a:srgbClr val="94A3B8"/>
                </a:solidFill>
                <a:latin typeface="Inter"/>
              </a:rPr>
              <a:t>Sus</a:t>
            </a:r>
            <a:r>
              <a:rPr lang="en-IN" sz="1200" dirty="0">
                <a:solidFill>
                  <a:srgbClr val="94A3B8"/>
                </a:solidFill>
                <a:latin typeface="Inter"/>
              </a:rPr>
              <a:t>hma</a:t>
            </a:r>
          </a:p>
          <a:p>
            <a:pPr algn="ctr">
              <a:lnSpc>
                <a:spcPts val="1800"/>
              </a:lnSpc>
            </a:pPr>
            <a:r>
              <a:rPr lang="en-IN" sz="1200" dirty="0">
                <a:solidFill>
                  <a:srgbClr val="94A3B8"/>
                </a:solidFill>
                <a:latin typeface="Inter"/>
              </a:rPr>
              <a:t>Manasi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650" y="4075658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4975" y="4075658"/>
            <a:ext cx="1562100" cy="1137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IN" sz="1200" dirty="0">
                <a:solidFill>
                  <a:srgbClr val="94A3B8"/>
                </a:solidFill>
                <a:latin typeface="Inter"/>
              </a:rPr>
              <a:t>Roll no-2620030361</a:t>
            </a:r>
          </a:p>
          <a:p>
            <a:pPr algn="ctr">
              <a:lnSpc>
                <a:spcPts val="1800"/>
              </a:lnSpc>
            </a:pPr>
            <a:r>
              <a:rPr lang="en-IN" sz="1200" b="1" i="0" u="none" dirty="0">
                <a:solidFill>
                  <a:srgbClr val="94A3B8"/>
                </a:solidFill>
                <a:latin typeface="Inter"/>
              </a:rPr>
              <a:t>26200</a:t>
            </a:r>
            <a:r>
              <a:rPr lang="en-IN" sz="1200" b="1" dirty="0">
                <a:solidFill>
                  <a:srgbClr val="94A3B8"/>
                </a:solidFill>
                <a:latin typeface="Inter"/>
              </a:rPr>
              <a:t>30387</a:t>
            </a:r>
          </a:p>
          <a:p>
            <a:pPr algn="ctr">
              <a:lnSpc>
                <a:spcPts val="1800"/>
              </a:lnSpc>
            </a:pPr>
            <a:r>
              <a:rPr lang="en-IN" sz="1200" b="1" i="0" u="none" dirty="0">
                <a:solidFill>
                  <a:srgbClr val="94A3B8"/>
                </a:solidFill>
                <a:latin typeface="Inter"/>
              </a:rPr>
              <a:t>2620030367</a:t>
            </a:r>
          </a:p>
          <a:p>
            <a:pPr algn="ctr">
              <a:lnSpc>
                <a:spcPts val="1800"/>
              </a:lnSpc>
            </a:pPr>
            <a:r>
              <a:rPr lang="en-IN" sz="1200" b="1" dirty="0">
                <a:solidFill>
                  <a:srgbClr val="94A3B8"/>
                </a:solidFill>
                <a:latin typeface="Inter"/>
              </a:rPr>
              <a:t>2620030374</a:t>
            </a:r>
          </a:p>
          <a:p>
            <a:pPr algn="ctr">
              <a:lnSpc>
                <a:spcPts val="1800"/>
              </a:lnSpc>
            </a:pPr>
            <a:r>
              <a:rPr lang="en-IN" sz="1200" b="1" i="0" u="none">
                <a:solidFill>
                  <a:srgbClr val="94A3B8"/>
                </a:solidFill>
                <a:latin typeface="Inter"/>
              </a:rPr>
              <a:t>262003038</a:t>
            </a:r>
            <a:r>
              <a:rPr lang="en-IN" sz="1200" b="1" dirty="0">
                <a:solidFill>
                  <a:srgbClr val="94A3B8"/>
                </a:solidFill>
                <a:latin typeface="Inter"/>
              </a:rPr>
              <a:t>0</a:t>
            </a:r>
            <a:endParaRPr lang="en-IN" sz="120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05675" y="4075658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4075658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Inter"/>
              </a:rPr>
              <a:t>Experiment: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2.1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823</Words>
  <Application>Microsoft Office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</dc:creator>
  <cp:keywords/>
  <dc:description>generated using python-pptx</dc:description>
  <cp:lastModifiedBy>vinay.mutya63@outlook.com</cp:lastModifiedBy>
  <cp:revision>6</cp:revision>
  <dcterms:created xsi:type="dcterms:W3CDTF">2013-01-27T09:14:16Z</dcterms:created>
  <dcterms:modified xsi:type="dcterms:W3CDTF">2026-09-02T08:59:48Z</dcterms:modified>
  <cp:category/>
</cp:coreProperties>
</file>